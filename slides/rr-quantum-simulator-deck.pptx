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9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9601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D55"/>
                </a:solidFill>
                <a:latin typeface="Aptos Display"/>
              </a:rPr>
              <a:t>Interactive Round Robin
Quantum Tuning Simulator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15468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2A303C"/>
                </a:solidFill>
                <a:latin typeface="Aptos"/>
              </a:rPr>
              <a:t>A terminal-based experiment platform for studying how time quantum selection changes responsiveness, overhead, and overall scheduling performance.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709160"/>
            <a:ext cx="3657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7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92D55"/>
                </a:solidFill>
                <a:latin typeface="Aptos"/>
              </a:defRPr>
            </a:pPr>
            <a:r>
              <a:t>Mykhailo Chuvik</a:t>
            </a:r>
          </a:p>
          <a:p>
            <a:pPr>
              <a:defRPr sz="1400">
                <a:solidFill>
                  <a:srgbClr val="636D7D"/>
                </a:solidFill>
                <a:latin typeface="Aptos"/>
              </a:defRPr>
            </a:pPr>
            <a:r>
              <a:t>Principles of Operating Systems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4645152"/>
            <a:ext cx="3566160" cy="685800"/>
          </a:xfrm>
          <a:prstGeom prst="roundRect">
            <a:avLst/>
          </a:prstGeom>
          <a:solidFill>
            <a:srgbClr val="3D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Scheduling Policy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E7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36D7D"/>
                </a:solidFill>
                <a:latin typeface="Aptos"/>
              </a:rPr>
              <a:t>Principles of Operating Systems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9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Problem and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6492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200">
                <a:solidFill>
                  <a:srgbClr val="2A303C"/>
                </a:solidFill>
                <a:latin typeface="Aptos"/>
              </a:defRPr>
            </a:pPr>
            <a:r>
              <a:t>Round Robin is widely taught and widely used, but choosing a good time quantum is not obvious</a:t>
            </a:r>
          </a:p>
          <a:p>
            <a:pPr>
              <a:spcAft>
                <a:spcPts val="1100"/>
              </a:spcAft>
              <a:defRPr sz="2200">
                <a:solidFill>
                  <a:srgbClr val="2A303C"/>
                </a:solidFill>
                <a:latin typeface="Aptos"/>
              </a:defRPr>
            </a:pPr>
            <a:r>
              <a:t>A poor quantum can improve one metric while damaging another</a:t>
            </a:r>
          </a:p>
          <a:p>
            <a:pPr>
              <a:spcAft>
                <a:spcPts val="1100"/>
              </a:spcAft>
              <a:defRPr sz="2200">
                <a:solidFill>
                  <a:srgbClr val="2A303C"/>
                </a:solidFill>
                <a:latin typeface="Aptos"/>
              </a:defRPr>
            </a:pPr>
            <a:r>
              <a:t>Context-switch overhead makes the tradeoff more realistic</a:t>
            </a:r>
          </a:p>
          <a:p>
            <a:pPr>
              <a:spcAft>
                <a:spcPts val="1100"/>
              </a:spcAft>
              <a:defRPr sz="2200">
                <a:solidFill>
                  <a:srgbClr val="2A303C"/>
                </a:solidFill>
                <a:latin typeface="Aptos"/>
              </a:defRPr>
            </a:pPr>
            <a:r>
              <a:t>The project goal is to turn that tradeoff into something measurable and visual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371600"/>
            <a:ext cx="38404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7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192D55"/>
                </a:solidFill>
                <a:latin typeface="Aptos"/>
              </a:defRPr>
            </a:pPr>
            <a:r>
              <a:t>Project question</a:t>
            </a:r>
          </a:p>
          <a:p>
            <a:pPr>
              <a:spcAft>
                <a:spcPts val="800"/>
              </a:spcAft>
              <a:defRPr sz="1500" b="0">
                <a:solidFill>
                  <a:srgbClr val="2A303C"/>
                </a:solidFill>
                <a:latin typeface="Aptos"/>
              </a:defRPr>
            </a:pPr>
            <a:r>
              <a:t>How does quantum choice affect responsiveness, overhead, and completion behavior under different workloads?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E7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36D7D"/>
                </a:solidFill>
                <a:latin typeface="Aptos"/>
              </a:rPr>
              <a:t>Principles of Operating Systems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9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6492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200">
                <a:solidFill>
                  <a:srgbClr val="2A303C"/>
                </a:solidFill>
                <a:latin typeface="Aptos"/>
              </a:defRPr>
            </a:pPr>
            <a:r>
              <a:t>Implement a configurable Round Robin scheduler simulator in C</a:t>
            </a:r>
          </a:p>
          <a:p>
            <a:pPr>
              <a:spcAft>
                <a:spcPts val="1100"/>
              </a:spcAft>
              <a:defRPr sz="2200">
                <a:solidFill>
                  <a:srgbClr val="2A303C"/>
                </a:solidFill>
                <a:latin typeface="Aptos"/>
              </a:defRPr>
            </a:pPr>
            <a:r>
              <a:t>Support arrival times, CPU burst lengths, and optional context-switch cost</a:t>
            </a:r>
          </a:p>
          <a:p>
            <a:pPr>
              <a:spcAft>
                <a:spcPts val="1100"/>
              </a:spcAft>
              <a:defRPr sz="2200">
                <a:solidFill>
                  <a:srgbClr val="2A303C"/>
                </a:solidFill>
                <a:latin typeface="Aptos"/>
              </a:defRPr>
            </a:pPr>
            <a:r>
              <a:t>Compute waiting, turnaround, response, throughput, and utilization metrics</a:t>
            </a:r>
          </a:p>
          <a:p>
            <a:pPr>
              <a:spcAft>
                <a:spcPts val="1100"/>
              </a:spcAft>
              <a:defRPr sz="2200">
                <a:solidFill>
                  <a:srgbClr val="2A303C"/>
                </a:solidFill>
                <a:latin typeface="Aptos"/>
              </a:defRPr>
            </a:pPr>
            <a:r>
              <a:t>Provide trace and animated terminal views of scheduling behavior</a:t>
            </a:r>
          </a:p>
          <a:p>
            <a:pPr>
              <a:spcAft>
                <a:spcPts val="1100"/>
              </a:spcAft>
              <a:defRPr sz="2200">
                <a:solidFill>
                  <a:srgbClr val="2A303C"/>
                </a:solidFill>
                <a:latin typeface="Aptos"/>
              </a:defRPr>
            </a:pPr>
            <a:r>
              <a:t>Sweep across quantum values and identify strong candidates by selected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E7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36D7D"/>
                </a:solidFill>
                <a:latin typeface="Aptos"/>
              </a:rPr>
              <a:t>Principles of Operating Systems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9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Implementation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83879" y="18288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D6DFEE"/>
                </a:solidFill>
                <a:latin typeface="Aptos"/>
              </a:rPr>
              <a:t>Core simulator 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4983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7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92D55"/>
                </a:solidFill>
                <a:latin typeface="Aptos"/>
              </a:defRPr>
            </a:pPr>
            <a:r>
              <a:t>Workload Parser</a:t>
            </a:r>
          </a:p>
          <a:p>
            <a:pPr>
              <a:defRPr sz="1300">
                <a:solidFill>
                  <a:srgbClr val="2A303C"/>
                </a:solidFill>
                <a:latin typeface="Aptos"/>
              </a:defRPr>
            </a:pPr>
            <a:r>
              <a:t>Reads PID, arrival time, and CPU burst input files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834639"/>
            <a:ext cx="4983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7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92D55"/>
                </a:solidFill>
                <a:latin typeface="Aptos"/>
              </a:defRPr>
            </a:pPr>
            <a:r>
              <a:t>Ready Queue</a:t>
            </a:r>
          </a:p>
          <a:p>
            <a:pPr>
              <a:defRPr sz="1300">
                <a:solidFill>
                  <a:srgbClr val="2A303C"/>
                </a:solidFill>
                <a:latin typeface="Aptos"/>
              </a:defRPr>
            </a:pPr>
            <a:r>
              <a:t>Maintains RR dispatch order as processes arrive and requeue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343400"/>
            <a:ext cx="4983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7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92D55"/>
                </a:solidFill>
                <a:latin typeface="Aptos"/>
              </a:defRPr>
            </a:pPr>
            <a:r>
              <a:t>Simulation Engine</a:t>
            </a:r>
          </a:p>
          <a:p>
            <a:pPr>
              <a:defRPr sz="1300">
                <a:solidFill>
                  <a:srgbClr val="2A303C"/>
                </a:solidFill>
                <a:latin typeface="Aptos"/>
              </a:defRPr>
            </a:pPr>
            <a:r>
              <a:t>Advances time, dispatches jobs, charges context-switch cost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25880"/>
            <a:ext cx="4983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7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92D55"/>
                </a:solidFill>
                <a:latin typeface="Aptos"/>
              </a:defRPr>
            </a:pPr>
            <a:r>
              <a:t>Metrics Collector</a:t>
            </a:r>
          </a:p>
          <a:p>
            <a:pPr>
              <a:defRPr sz="1300">
                <a:solidFill>
                  <a:srgbClr val="2A303C"/>
                </a:solidFill>
                <a:latin typeface="Aptos"/>
              </a:defRPr>
            </a:pPr>
            <a:r>
              <a:t>Computes wait, turnaround, response, throughput, utilization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834639"/>
            <a:ext cx="4983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7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92D55"/>
                </a:solidFill>
                <a:latin typeface="Aptos"/>
              </a:defRPr>
            </a:pPr>
            <a:r>
              <a:t>Visualization Layer</a:t>
            </a:r>
          </a:p>
          <a:p>
            <a:pPr>
              <a:defRPr sz="1300">
                <a:solidFill>
                  <a:srgbClr val="2A303C"/>
                </a:solidFill>
                <a:latin typeface="Aptos"/>
              </a:defRPr>
            </a:pPr>
            <a:r>
              <a:t>Trace, HUD animation, and theatre animation modes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343400"/>
            <a:ext cx="4983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7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92D55"/>
                </a:solidFill>
                <a:latin typeface="Aptos"/>
              </a:defRPr>
            </a:pPr>
            <a:r>
              <a:t>Experiment Modes</a:t>
            </a:r>
          </a:p>
          <a:p>
            <a:pPr>
              <a:defRPr sz="1300">
                <a:solidFill>
                  <a:srgbClr val="2A303C"/>
                </a:solidFill>
                <a:latin typeface="Aptos"/>
              </a:defRPr>
            </a:pPr>
            <a:r>
              <a:t>Single-run analysis, sweep mode, FCFS baseline, workload generator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E7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36D7D"/>
                </a:solidFill>
                <a:latin typeface="Aptos"/>
              </a:rPr>
              <a:t>Principles of Operating Systems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9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Metrics and Experiment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83879" y="18288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D6DFEE"/>
                </a:solidFill>
                <a:latin typeface="Aptos"/>
              </a:rPr>
              <a:t>What the simulator measures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577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A303C"/>
                </a:solidFill>
                <a:latin typeface="Aptos"/>
              </a:defRPr>
            </a:pPr>
            <a:r>
              <a:t>Average waiting time: how long processes spend waiting in READY</a:t>
            </a:r>
          </a:p>
          <a:p>
            <a:pPr>
              <a:spcAft>
                <a:spcPts val="1100"/>
              </a:spcAft>
              <a:defRPr sz="2000">
                <a:solidFill>
                  <a:srgbClr val="2A303C"/>
                </a:solidFill>
                <a:latin typeface="Aptos"/>
              </a:defRPr>
            </a:pPr>
            <a:r>
              <a:t>Average turnaround time: arrival to completion</a:t>
            </a:r>
          </a:p>
          <a:p>
            <a:pPr>
              <a:spcAft>
                <a:spcPts val="1100"/>
              </a:spcAft>
              <a:defRPr sz="2000">
                <a:solidFill>
                  <a:srgbClr val="2A303C"/>
                </a:solidFill>
                <a:latin typeface="Aptos"/>
              </a:defRPr>
            </a:pPr>
            <a:r>
              <a:t>Average response time: arrival to first CPU dispatch</a:t>
            </a:r>
          </a:p>
          <a:p>
            <a:pPr>
              <a:spcAft>
                <a:spcPts val="1100"/>
              </a:spcAft>
              <a:defRPr sz="2000">
                <a:solidFill>
                  <a:srgbClr val="2A303C"/>
                </a:solidFill>
                <a:latin typeface="Aptos"/>
              </a:defRPr>
            </a:pPr>
            <a:r>
              <a:t>Context switches and total completion time</a:t>
            </a:r>
          </a:p>
          <a:p>
            <a:pPr>
              <a:spcAft>
                <a:spcPts val="1100"/>
              </a:spcAft>
              <a:defRPr sz="2000">
                <a:solidFill>
                  <a:srgbClr val="2A303C"/>
                </a:solidFill>
                <a:latin typeface="Aptos"/>
              </a:defRPr>
            </a:pPr>
            <a:r>
              <a:t>Throughput and CPU utilization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417320"/>
            <a:ext cx="45720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7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192D55"/>
                </a:solidFill>
                <a:latin typeface="Aptos"/>
              </a:defRPr>
            </a:pPr>
            <a:r>
              <a:t>Experimental variables</a:t>
            </a:r>
          </a:p>
          <a:p>
            <a:pPr>
              <a:spcAft>
                <a:spcPts val="800"/>
              </a:spcAft>
              <a:defRPr sz="1500" b="0">
                <a:solidFill>
                  <a:srgbClr val="2A303C"/>
                </a:solidFill>
                <a:latin typeface="Aptos"/>
              </a:defRPr>
            </a:pPr>
            <a:r>
              <a:t>Quantum range: sweep across multiple q values</a:t>
            </a:r>
          </a:p>
          <a:p>
            <a:pPr>
              <a:spcAft>
                <a:spcPts val="800"/>
              </a:spcAft>
              <a:defRPr sz="1500" b="0">
                <a:solidFill>
                  <a:srgbClr val="2A303C"/>
                </a:solidFill>
                <a:latin typeface="Aptos"/>
              </a:defRPr>
            </a:pPr>
            <a:r>
              <a:t>Context-switch cost: compare cs = 0, 1, 2</a:t>
            </a:r>
          </a:p>
          <a:p>
            <a:pPr>
              <a:spcAft>
                <a:spcPts val="800"/>
              </a:spcAft>
              <a:defRPr sz="1500" b="0">
                <a:solidFill>
                  <a:srgbClr val="2A303C"/>
                </a:solidFill>
                <a:latin typeface="Aptos"/>
              </a:defRPr>
            </a:pPr>
            <a:r>
              <a:t>Workload type: demo, interactive, mixed, generated</a:t>
            </a:r>
          </a:p>
          <a:p>
            <a:pPr>
              <a:spcAft>
                <a:spcPts val="800"/>
              </a:spcAft>
              <a:defRPr sz="1500" b="0">
                <a:solidFill>
                  <a:srgbClr val="2A303C"/>
                </a:solidFill>
                <a:latin typeface="Aptos"/>
              </a:defRPr>
            </a:pPr>
            <a:r>
              <a:t>Baseline comparison: Round Robin vs FCFS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E7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36D7D"/>
                </a:solidFill>
                <a:latin typeface="Aptos"/>
              </a:rPr>
              <a:t>Principles of Operating Systems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9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Workloads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83879" y="18288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D6DFEE"/>
                </a:solidFill>
                <a:latin typeface="Aptos"/>
              </a:rPr>
              <a:t>Representative test scenarios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1206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7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581912"/>
            <a:ext cx="1600200" cy="384048"/>
          </a:xfrm>
          <a:prstGeom prst="roundRect">
            <a:avLst/>
          </a:prstGeom>
          <a:solidFill>
            <a:srgbClr val="3D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demo.txt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A303C"/>
                </a:solidFill>
                <a:latin typeface="Aptos"/>
              </a:defRPr>
            </a:pPr>
            <a:r>
              <a:t>Small four-process example for readable traces and quick sanity checks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1206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7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1581912"/>
            <a:ext cx="1600200" cy="384048"/>
          </a:xfrm>
          <a:prstGeom prst="roundRect">
            <a:avLst/>
          </a:prstGeom>
          <a:solidFill>
            <a:srgbClr val="277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interactive-bursty.txt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0312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A303C"/>
                </a:solidFill>
                <a:latin typeface="Aptos"/>
              </a:defRPr>
            </a:pPr>
            <a:r>
              <a:t>Many short jobs arriving frequently to emphasize response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520440"/>
            <a:ext cx="51206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7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3685032"/>
            <a:ext cx="1600200" cy="384048"/>
          </a:xfrm>
          <a:prstGeom prst="roundRect">
            <a:avLst/>
          </a:prstGeom>
          <a:solidFill>
            <a:srgbClr val="C9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big-mix.txt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A303C"/>
                </a:solidFill>
                <a:latin typeface="Aptos"/>
              </a:defRPr>
            </a:pPr>
            <a:r>
              <a:t>Larger mixed workload with short, medium, and long CPU bursts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520440"/>
            <a:ext cx="51206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7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3685032"/>
            <a:ext cx="1600200" cy="384048"/>
          </a:xfrm>
          <a:prstGeom prst="roundRect">
            <a:avLst/>
          </a:prstGeom>
          <a:solidFill>
            <a:srgbClr val="19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generated workloads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20624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A303C"/>
                </a:solidFill>
                <a:latin typeface="Aptos"/>
              </a:defRPr>
            </a:pPr>
            <a:r>
              <a:t>Repeatable synthetic inputs using a seed for experiments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E7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36D7D"/>
                </a:solidFill>
                <a:latin typeface="Aptos"/>
              </a:rPr>
              <a:t>Principles of Operating Systems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9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Results and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83879" y="18288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D6DFEE"/>
                </a:solidFill>
                <a:latin typeface="Aptos"/>
              </a:rPr>
              <a:t>What the simulator shows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6675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A303C"/>
                </a:solidFill>
                <a:latin typeface="Aptos"/>
              </a:defRPr>
            </a:pPr>
            <a:r>
              <a:t>Small quanta improve responsiveness, but they increase context-switch overhead</a:t>
            </a:r>
          </a:p>
          <a:p>
            <a:pPr>
              <a:spcAft>
                <a:spcPts val="1100"/>
              </a:spcAft>
              <a:defRPr sz="2000">
                <a:solidFill>
                  <a:srgbClr val="2A303C"/>
                </a:solidFill>
                <a:latin typeface="Aptos"/>
              </a:defRPr>
            </a:pPr>
            <a:r>
              <a:t>Larger quanta reduce switching cost and can improve turnaround on some workloads</a:t>
            </a:r>
          </a:p>
          <a:p>
            <a:pPr>
              <a:spcAft>
                <a:spcPts val="1100"/>
              </a:spcAft>
              <a:defRPr sz="2000">
                <a:solidFill>
                  <a:srgbClr val="2A303C"/>
                </a:solidFill>
                <a:latin typeface="Aptos"/>
              </a:defRPr>
            </a:pPr>
            <a:r>
              <a:t>When context-switch cost increases, the best-performing quantum usually shifts upward</a:t>
            </a:r>
          </a:p>
          <a:p>
            <a:pPr>
              <a:spcAft>
                <a:spcPts val="1100"/>
              </a:spcAft>
              <a:defRPr sz="2000">
                <a:solidFill>
                  <a:srgbClr val="2A303C"/>
                </a:solidFill>
                <a:latin typeface="Aptos"/>
              </a:defRPr>
            </a:pPr>
            <a:r>
              <a:t>The best quantum depends on which metric is being optimized</a:t>
            </a:r>
          </a:p>
          <a:p>
            <a:pPr>
              <a:spcAft>
                <a:spcPts val="1100"/>
              </a:spcAft>
              <a:defRPr sz="2000">
                <a:solidFill>
                  <a:srgbClr val="2A303C"/>
                </a:solidFill>
                <a:latin typeface="Aptos"/>
              </a:defRPr>
            </a:pPr>
            <a:r>
              <a:t>Large quantum values cause RR behavior to approach FCFS-like execution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554480"/>
            <a:ext cx="3657600" cy="3794760"/>
          </a:xfrm>
          <a:prstGeom prst="roundRect">
            <a:avLst/>
          </a:prstGeom>
          <a:solidFill>
            <a:srgbClr val="FFFFFF"/>
          </a:solidFill>
          <a:ln>
            <a:solidFill>
              <a:srgbClr val="E7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192D55"/>
                </a:solidFill>
                <a:latin typeface="Aptos"/>
              </a:defRPr>
            </a:pPr>
            <a:r>
              <a:t>Example live comparisons</a:t>
            </a:r>
          </a:p>
          <a:p>
            <a:pPr>
              <a:spcAft>
                <a:spcPts val="800"/>
              </a:spcAft>
              <a:defRPr sz="1500" b="0">
                <a:solidFill>
                  <a:srgbClr val="2A303C"/>
                </a:solidFill>
                <a:latin typeface="Aptos"/>
              </a:defRPr>
            </a:pPr>
            <a:r>
              <a:t>RR sweep with `--best-by response`</a:t>
            </a:r>
          </a:p>
          <a:p>
            <a:pPr>
              <a:spcAft>
                <a:spcPts val="800"/>
              </a:spcAft>
              <a:defRPr sz="1500" b="0">
                <a:solidFill>
                  <a:srgbClr val="2A303C"/>
                </a:solidFill>
                <a:latin typeface="Aptos"/>
              </a:defRPr>
            </a:pPr>
            <a:r>
              <a:t>RR sweep with `--best-by throughput`</a:t>
            </a:r>
          </a:p>
          <a:p>
            <a:pPr>
              <a:spcAft>
                <a:spcPts val="800"/>
              </a:spcAft>
              <a:defRPr sz="1500" b="0">
                <a:solidFill>
                  <a:srgbClr val="2A303C"/>
                </a:solidFill>
                <a:latin typeface="Aptos"/>
              </a:defRPr>
            </a:pPr>
            <a:r>
              <a:t>FCFS baseline on same workload</a:t>
            </a:r>
          </a:p>
          <a:p>
            <a:pPr>
              <a:spcAft>
                <a:spcPts val="800"/>
              </a:spcAft>
              <a:defRPr sz="1500" b="0">
                <a:solidFill>
                  <a:srgbClr val="2A303C"/>
                </a:solidFill>
                <a:latin typeface="Aptos"/>
              </a:defRPr>
            </a:pPr>
            <a:r>
              <a:t>Theatre animation for intuition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E7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36D7D"/>
                </a:solidFill>
                <a:latin typeface="Aptos"/>
              </a:rPr>
              <a:t>Principles of Operating Systems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9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Why This Is More Than a Toy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83879" y="18288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D6DFEE"/>
                </a:solidFill>
                <a:latin typeface="Aptos"/>
              </a:rPr>
              <a:t>Project depth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01752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7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3017520" cy="548640"/>
          </a:xfrm>
          <a:prstGeom prst="rect">
            <a:avLst/>
          </a:prstGeom>
          <a:solidFill>
            <a:srgbClr val="3D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Core scheduling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26060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A303C"/>
                </a:solidFill>
                <a:latin typeface="Aptos"/>
              </a:defRPr>
            </a:pPr>
            <a:r>
              <a:t>RR engine</a:t>
            </a:r>
          </a:p>
          <a:p>
            <a:pPr>
              <a:spcAft>
                <a:spcPts val="1100"/>
              </a:spcAft>
              <a:defRPr sz="1700">
                <a:solidFill>
                  <a:srgbClr val="2A303C"/>
                </a:solidFill>
                <a:latin typeface="Aptos"/>
              </a:defRPr>
            </a:pPr>
            <a:r>
              <a:t>Context-switch overhead</a:t>
            </a:r>
          </a:p>
          <a:p>
            <a:pPr>
              <a:spcAft>
                <a:spcPts val="1100"/>
              </a:spcAft>
              <a:defRPr sz="1700">
                <a:solidFill>
                  <a:srgbClr val="2A303C"/>
                </a:solidFill>
                <a:latin typeface="Aptos"/>
              </a:defRPr>
            </a:pPr>
            <a:r>
              <a:t>Arrival handling</a:t>
            </a:r>
          </a:p>
          <a:p>
            <a:pPr>
              <a:spcAft>
                <a:spcPts val="1100"/>
              </a:spcAft>
              <a:defRPr sz="1700">
                <a:solidFill>
                  <a:srgbClr val="2A303C"/>
                </a:solidFill>
                <a:latin typeface="Aptos"/>
              </a:defRPr>
            </a:pPr>
            <a:r>
              <a:t>Metrics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554480"/>
            <a:ext cx="301752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7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60520" y="1554480"/>
            <a:ext cx="3017520" cy="548640"/>
          </a:xfrm>
          <a:prstGeom prst="rect">
            <a:avLst/>
          </a:prstGeom>
          <a:solidFill>
            <a:srgbClr val="277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Experiment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240280"/>
            <a:ext cx="26060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A303C"/>
                </a:solidFill>
                <a:latin typeface="Aptos"/>
              </a:defRPr>
            </a:pPr>
            <a:r>
              <a:t>Quantum sweeps</a:t>
            </a:r>
          </a:p>
          <a:p>
            <a:pPr>
              <a:spcAft>
                <a:spcPts val="1100"/>
              </a:spcAft>
              <a:defRPr sz="1700">
                <a:solidFill>
                  <a:srgbClr val="2A303C"/>
                </a:solidFill>
                <a:latin typeface="Aptos"/>
              </a:defRPr>
            </a:pPr>
            <a:r>
              <a:t>CSV export</a:t>
            </a:r>
          </a:p>
          <a:p>
            <a:pPr>
              <a:spcAft>
                <a:spcPts val="1100"/>
              </a:spcAft>
              <a:defRPr sz="1700">
                <a:solidFill>
                  <a:srgbClr val="2A303C"/>
                </a:solidFill>
                <a:latin typeface="Aptos"/>
              </a:defRPr>
            </a:pPr>
            <a:r>
              <a:t>Best-by metric selection</a:t>
            </a:r>
          </a:p>
          <a:p>
            <a:pPr>
              <a:spcAft>
                <a:spcPts val="1100"/>
              </a:spcAft>
              <a:defRPr sz="1700">
                <a:solidFill>
                  <a:srgbClr val="2A303C"/>
                </a:solidFill>
                <a:latin typeface="Aptos"/>
              </a:defRPr>
            </a:pPr>
            <a:r>
              <a:t>Synthetic workloads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554480"/>
            <a:ext cx="301752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7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89520" y="1554480"/>
            <a:ext cx="3017520" cy="548640"/>
          </a:xfrm>
          <a:prstGeom prst="rect">
            <a:avLst/>
          </a:prstGeom>
          <a:solidFill>
            <a:srgbClr val="C9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Presentation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240280"/>
            <a:ext cx="26060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A303C"/>
                </a:solidFill>
                <a:latin typeface="Aptos"/>
              </a:defRPr>
            </a:pPr>
            <a:r>
              <a:t>Live animation</a:t>
            </a:r>
          </a:p>
          <a:p>
            <a:pPr>
              <a:spcAft>
                <a:spcPts val="1100"/>
              </a:spcAft>
              <a:defRPr sz="1700">
                <a:solidFill>
                  <a:srgbClr val="2A303C"/>
                </a:solidFill>
                <a:latin typeface="Aptos"/>
              </a:defRPr>
            </a:pPr>
            <a:r>
              <a:t>Trace mode</a:t>
            </a:r>
          </a:p>
          <a:p>
            <a:pPr>
              <a:spcAft>
                <a:spcPts val="1100"/>
              </a:spcAft>
              <a:defRPr sz="1700">
                <a:solidFill>
                  <a:srgbClr val="2A303C"/>
                </a:solidFill>
                <a:latin typeface="Aptos"/>
              </a:defRPr>
            </a:pPr>
            <a:r>
              <a:t>FCFS baseline</a:t>
            </a:r>
          </a:p>
          <a:p>
            <a:pPr>
              <a:spcAft>
                <a:spcPts val="1100"/>
              </a:spcAft>
              <a:defRPr sz="1700">
                <a:solidFill>
                  <a:srgbClr val="2A303C"/>
                </a:solidFill>
                <a:latin typeface="Aptos"/>
              </a:defRPr>
            </a:pPr>
            <a:r>
              <a:t>Demo automation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E7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36D7D"/>
                </a:solidFill>
                <a:latin typeface="Aptos"/>
              </a:rPr>
              <a:t>Principles of Operating Systems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9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83879" y="18288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D6DFEE"/>
                </a:solidFill>
                <a:latin typeface="Aptos"/>
              </a:rPr>
              <a:t>Main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583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A303C"/>
                </a:solidFill>
                <a:latin typeface="Aptos"/>
              </a:defRPr>
            </a:pPr>
            <a:r>
              <a:t>Round Robin quantum selection is workload-dependent</a:t>
            </a:r>
          </a:p>
          <a:p>
            <a:pPr>
              <a:spcAft>
                <a:spcPts val="1100"/>
              </a:spcAft>
              <a:defRPr sz="2100">
                <a:solidFill>
                  <a:srgbClr val="2A303C"/>
                </a:solidFill>
                <a:latin typeface="Aptos"/>
              </a:defRPr>
            </a:pPr>
            <a:r>
              <a:t>No single q is universally best across all metrics</a:t>
            </a:r>
          </a:p>
          <a:p>
            <a:pPr>
              <a:spcAft>
                <a:spcPts val="1100"/>
              </a:spcAft>
              <a:defRPr sz="2100">
                <a:solidFill>
                  <a:srgbClr val="2A303C"/>
                </a:solidFill>
                <a:latin typeface="Aptos"/>
              </a:defRPr>
            </a:pPr>
            <a:r>
              <a:t>Response time, turnaround, throughput, and overhead pull the decision in different directions</a:t>
            </a:r>
          </a:p>
          <a:p>
            <a:pPr>
              <a:spcAft>
                <a:spcPts val="1100"/>
              </a:spcAft>
              <a:defRPr sz="2100">
                <a:solidFill>
                  <a:srgbClr val="2A303C"/>
                </a:solidFill>
                <a:latin typeface="Aptos"/>
              </a:defRPr>
            </a:pPr>
            <a:r>
              <a:t>A simulator makes those tradeoffs visible, measurable, and explainable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0" y="1828800"/>
            <a:ext cx="3749039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7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92D55"/>
                </a:solidFill>
                <a:latin typeface="Aptos"/>
              </a:defRPr>
            </a:pPr>
            <a:r>
              <a:t>Best quantum depends on:</a:t>
            </a:r>
          </a:p>
          <a:p>
            <a:pPr>
              <a:spcAft>
                <a:spcPts val="800"/>
              </a:spcAft>
              <a:defRPr sz="1600">
                <a:solidFill>
                  <a:srgbClr val="2A303C"/>
                </a:solidFill>
                <a:latin typeface="Aptos"/>
              </a:defRPr>
            </a:pPr>
            <a:r>
              <a:t>workload pattern</a:t>
            </a:r>
          </a:p>
          <a:p>
            <a:pPr>
              <a:spcAft>
                <a:spcPts val="800"/>
              </a:spcAft>
              <a:defRPr sz="1600">
                <a:solidFill>
                  <a:srgbClr val="2A303C"/>
                </a:solidFill>
                <a:latin typeface="Aptos"/>
              </a:defRPr>
            </a:pPr>
            <a:r>
              <a:t>context-switch cost</a:t>
            </a:r>
          </a:p>
          <a:p>
            <a:pPr>
              <a:spcAft>
                <a:spcPts val="800"/>
              </a:spcAft>
              <a:defRPr sz="1600">
                <a:solidFill>
                  <a:srgbClr val="2A303C"/>
                </a:solidFill>
                <a:latin typeface="Aptos"/>
              </a:defRPr>
            </a:pPr>
            <a:r>
              <a:t>optimization metric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E7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36D7D"/>
                </a:solidFill>
                <a:latin typeface="Aptos"/>
              </a:rPr>
              <a:t>Principles of Operating Systems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9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49377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92D55"/>
                </a:solidFill>
                <a:latin typeface="Aptos Display"/>
              </a:rPr>
              <a:t>Time to Demo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240280"/>
            <a:ext cx="54864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7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192D55"/>
                </a:solidFill>
                <a:latin typeface="Aptos"/>
              </a:defRPr>
            </a:pPr>
            <a:r>
              <a:t>Quick reminders</a:t>
            </a:r>
          </a:p>
          <a:p>
            <a:pPr>
              <a:spcAft>
                <a:spcPts val="800"/>
              </a:spcAft>
              <a:defRPr sz="1500" b="0">
                <a:solidFill>
                  <a:srgbClr val="2A303C"/>
                </a:solidFill>
                <a:latin typeface="Aptos"/>
              </a:defRPr>
            </a:pPr>
            <a:r>
              <a:t>Have WSL already open in the project directory</a:t>
            </a:r>
          </a:p>
          <a:p>
            <a:pPr>
              <a:spcAft>
                <a:spcPts val="800"/>
              </a:spcAft>
              <a:defRPr sz="1500" b="0">
                <a:solidFill>
                  <a:srgbClr val="2A303C"/>
                </a:solidFill>
                <a:latin typeface="Aptos"/>
              </a:defRPr>
            </a:pPr>
            <a:r>
              <a:t>Run `bash demo.sh` for the guided demo</a:t>
            </a:r>
          </a:p>
          <a:p>
            <a:pPr>
              <a:spcAft>
                <a:spcPts val="800"/>
              </a:spcAft>
              <a:defRPr sz="1500" b="0">
                <a:solidFill>
                  <a:srgbClr val="2A303C"/>
                </a:solidFill>
                <a:latin typeface="Aptos"/>
              </a:defRPr>
            </a:pPr>
            <a:r>
              <a:t>Use Ctrl+C to stop the theatre animation and continue</a:t>
            </a:r>
          </a:p>
          <a:p>
            <a:pPr>
              <a:spcAft>
                <a:spcPts val="800"/>
              </a:spcAft>
              <a:defRPr sz="1500" b="0">
                <a:solidFill>
                  <a:srgbClr val="2A303C"/>
                </a:solidFill>
                <a:latin typeface="Aptos"/>
              </a:defRPr>
            </a:pPr>
            <a:r>
              <a:t>If needed, run the animation directly with the theatre command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37960" y="2057400"/>
            <a:ext cx="4709160" cy="3840480"/>
          </a:xfrm>
          <a:prstGeom prst="roundRect">
            <a:avLst/>
          </a:prstGeom>
          <a:solidFill>
            <a:srgbClr val="1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700" b="1">
                <a:solidFill>
                  <a:srgbClr val="E0E7F4"/>
                </a:solidFill>
                <a:latin typeface="Aptos"/>
              </a:defRPr>
            </a:pPr>
            <a:r>
              <a:t>WSL commands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cd /mnt/c/dev/PrincOS/OSproject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bash demo.sh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Direct theatre mode: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./rrsim --input workloads/big-mix.txt \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 --quantum 3 --cs 1 --animate \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 --style theatre --screen 110x30 --delay 40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E7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36D7D"/>
                </a:solidFill>
                <a:latin typeface="Aptos"/>
              </a:rPr>
              <a:t>Final slide: switch to terminal and run the live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